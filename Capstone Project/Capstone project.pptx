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umberjack" charset="1" panose="02000503050000020004"/>
      <p:regular r:id="rId24"/>
    </p:embeddedFont>
    <p:embeddedFont>
      <p:font typeface="Zilla Slab Light" charset="1" panose="00000000000000000000"/>
      <p:regular r:id="rId25"/>
    </p:embeddedFont>
    <p:embeddedFont>
      <p:font typeface="Zilla Slab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7771" y="7275576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0" y="0"/>
                </a:moveTo>
                <a:lnTo>
                  <a:pt x="9578727" y="0"/>
                </a:lnTo>
                <a:lnTo>
                  <a:pt x="9578727" y="7262417"/>
                </a:lnTo>
                <a:lnTo>
                  <a:pt x="0" y="7262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14207" y="6589784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50450" y="-919232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49685" y="-149175"/>
            <a:ext cx="3009518" cy="2112134"/>
          </a:xfrm>
          <a:custGeom>
            <a:avLst/>
            <a:gdLst/>
            <a:ahLst/>
            <a:cxnLst/>
            <a:rect r="r" b="b" t="t" l="l"/>
            <a:pathLst>
              <a:path h="2112134" w="3009518">
                <a:moveTo>
                  <a:pt x="0" y="0"/>
                </a:moveTo>
                <a:lnTo>
                  <a:pt x="3009517" y="0"/>
                </a:lnTo>
                <a:lnTo>
                  <a:pt x="3009517" y="2112134"/>
                </a:lnTo>
                <a:lnTo>
                  <a:pt x="0" y="2112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07604" y="82296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51695" y="-2976632"/>
            <a:ext cx="3648974" cy="4114800"/>
          </a:xfrm>
          <a:custGeom>
            <a:avLst/>
            <a:gdLst/>
            <a:ahLst/>
            <a:cxnLst/>
            <a:rect r="r" b="b" t="t" l="l"/>
            <a:pathLst>
              <a:path h="4114800" w="3648974">
                <a:moveTo>
                  <a:pt x="0" y="0"/>
                </a:moveTo>
                <a:lnTo>
                  <a:pt x="3648974" y="0"/>
                </a:lnTo>
                <a:lnTo>
                  <a:pt x="3648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26788" y="9701821"/>
            <a:ext cx="5432512" cy="2966812"/>
          </a:xfrm>
          <a:custGeom>
            <a:avLst/>
            <a:gdLst/>
            <a:ahLst/>
            <a:cxnLst/>
            <a:rect r="r" b="b" t="t" l="l"/>
            <a:pathLst>
              <a:path h="2966812" w="5432512">
                <a:moveTo>
                  <a:pt x="0" y="0"/>
                </a:moveTo>
                <a:lnTo>
                  <a:pt x="5432512" y="0"/>
                </a:lnTo>
                <a:lnTo>
                  <a:pt x="5432512" y="2966812"/>
                </a:lnTo>
                <a:lnTo>
                  <a:pt x="0" y="2966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59595" y="3801196"/>
            <a:ext cx="13718003" cy="183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1"/>
              </a:lnSpc>
            </a:pPr>
            <a:r>
              <a:rPr lang="en-US" sz="13401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CAPSTONE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42883" y="5889229"/>
            <a:ext cx="8551427" cy="73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286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By Rafi Maulana Firdaus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10236" y="2773016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I</a:t>
            </a: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10236" y="4720063"/>
            <a:ext cx="11145262" cy="337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Influ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enza A adalah virus respiratori yang menjadi ancaman kesehatan global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pDC merupakan sensor virus utama dalam sistem imun bawaan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pDC menghasilkan interferon tipe I untuk melawan infeksi virus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transcriptomics membantu memahami respons molek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uler terhadap infeksi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01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510236" y="1203558"/>
            <a:ext cx="11145262" cy="30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10236" y="4325323"/>
            <a:ext cx="11145262" cy="169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 b="true">
                <a:solidFill>
                  <a:srgbClr val="7F7D78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Dataset: GSE68849 (Illumina HumanHT-12 v4.0)</a:t>
            </a:r>
          </a:p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dilakukan untuk memahami respons pDC terhadap infeksi Influenza A (8 jam)</a:t>
            </a:r>
          </a:p>
          <a:p>
            <a:pPr algn="just">
              <a:lnSpc>
                <a:spcPts val="33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510236" y="6302543"/>
            <a:ext cx="11145262" cy="295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Fokus analisis: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Data preprocessing dan normalisasi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Identifikasi DEGs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Visualisasi ekspresi gen (PCA, Volcano, Heatmap)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jalur biologis (GO &amp; KEGG)</a:t>
            </a:r>
          </a:p>
          <a:p>
            <a:pPr algn="just">
              <a:lnSpc>
                <a:spcPts val="3315"/>
              </a:lnSpc>
            </a:pP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7771" y="7275576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0" y="0"/>
                </a:moveTo>
                <a:lnTo>
                  <a:pt x="9578727" y="0"/>
                </a:lnTo>
                <a:lnTo>
                  <a:pt x="9578727" y="7262417"/>
                </a:lnTo>
                <a:lnTo>
                  <a:pt x="0" y="7262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14207" y="6589784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50450" y="-919232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49685" y="-149175"/>
            <a:ext cx="3009518" cy="2112134"/>
          </a:xfrm>
          <a:custGeom>
            <a:avLst/>
            <a:gdLst/>
            <a:ahLst/>
            <a:cxnLst/>
            <a:rect r="r" b="b" t="t" l="l"/>
            <a:pathLst>
              <a:path h="2112134" w="3009518">
                <a:moveTo>
                  <a:pt x="0" y="0"/>
                </a:moveTo>
                <a:lnTo>
                  <a:pt x="3009517" y="0"/>
                </a:lnTo>
                <a:lnTo>
                  <a:pt x="3009517" y="2112134"/>
                </a:lnTo>
                <a:lnTo>
                  <a:pt x="0" y="2112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07604" y="82296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9299" y="4325148"/>
            <a:ext cx="15109401" cy="183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8"/>
              </a:lnSpc>
            </a:pPr>
            <a:r>
              <a:rPr lang="en-US" sz="13417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METH</a:t>
            </a:r>
            <a:r>
              <a:rPr lang="en-US" sz="13417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826788" y="9701821"/>
            <a:ext cx="5432512" cy="2966812"/>
          </a:xfrm>
          <a:custGeom>
            <a:avLst/>
            <a:gdLst/>
            <a:ahLst/>
            <a:cxnLst/>
            <a:rect r="r" b="b" t="t" l="l"/>
            <a:pathLst>
              <a:path h="2966812" w="5432512">
                <a:moveTo>
                  <a:pt x="0" y="0"/>
                </a:moveTo>
                <a:lnTo>
                  <a:pt x="5432512" y="0"/>
                </a:lnTo>
                <a:lnTo>
                  <a:pt x="5432512" y="2966812"/>
                </a:lnTo>
                <a:lnTo>
                  <a:pt x="0" y="2966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51695" y="-2976632"/>
            <a:ext cx="3648974" cy="4114800"/>
          </a:xfrm>
          <a:custGeom>
            <a:avLst/>
            <a:gdLst/>
            <a:ahLst/>
            <a:cxnLst/>
            <a:rect r="r" b="b" t="t" l="l"/>
            <a:pathLst>
              <a:path h="4114800" w="3648974">
                <a:moveTo>
                  <a:pt x="0" y="0"/>
                </a:moveTo>
                <a:lnTo>
                  <a:pt x="3648974" y="0"/>
                </a:lnTo>
                <a:lnTo>
                  <a:pt x="3648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04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326828" y="1353761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C3C0BE"/>
                </a:solidFill>
                <a:latin typeface="Lumberjack"/>
                <a:ea typeface="Lumberjack"/>
                <a:cs typeface="Lumberjack"/>
                <a:sym typeface="Lumberjack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10236" y="4167937"/>
            <a:ext cx="11145262" cy="127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Visualisasi melalui analisis ulang data transcriptomics untuk memahami respons imun plasmacytoid dendritic cells (pDC) terhadap infeksi virus Influenza 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81108" y="2922964"/>
            <a:ext cx="9725784" cy="920257"/>
            <a:chOff x="0" y="0"/>
            <a:chExt cx="2561523" cy="242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1523" cy="242372"/>
            </a:xfrm>
            <a:custGeom>
              <a:avLst/>
              <a:gdLst/>
              <a:ahLst/>
              <a:cxnLst/>
              <a:rect r="r" b="b" t="t" l="l"/>
              <a:pathLst>
                <a:path h="242372" w="2561523">
                  <a:moveTo>
                    <a:pt x="0" y="0"/>
                  </a:moveTo>
                  <a:lnTo>
                    <a:pt x="2561523" y="0"/>
                  </a:lnTo>
                  <a:lnTo>
                    <a:pt x="2561523" y="242372"/>
                  </a:lnTo>
                  <a:lnTo>
                    <a:pt x="0" y="242372"/>
                  </a:lnTo>
                  <a:close/>
                </a:path>
              </a:pathLst>
            </a:custGeom>
            <a:solidFill>
              <a:srgbClr val="7F7D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1523" cy="28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26828" y="3008689"/>
            <a:ext cx="7634344" cy="83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RESEARCH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8110" y="5618744"/>
            <a:ext cx="11145262" cy="421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Tahapan penelitian: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Menggunakan dataset publik GSE68849 dari NCBI GEO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Membandingkan ekspresi gen antara kelompok kontrol dan kelompok terinfeksi Influenza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Differentially Expressed Genes (DEGs) menggunakan metode limma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fungsi biologis menggunakan Gene Ontology (GO) dan KEGG pathway</a:t>
            </a:r>
          </a:p>
          <a:p>
            <a:pPr algn="just">
              <a:lnSpc>
                <a:spcPts val="3315"/>
              </a:lnSpc>
            </a:pP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05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906434" y="1853087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C3C0BE"/>
                </a:solidFill>
                <a:latin typeface="Lumberjack"/>
                <a:ea typeface="Lumberjack"/>
                <a:cs typeface="Lumberjack"/>
                <a:sym typeface="Lumberjack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6434" y="4801768"/>
            <a:ext cx="5839635" cy="86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Bahasa pemrograman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R (versi 4.2.2)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6936" y="3560171"/>
            <a:ext cx="9725784" cy="920257"/>
            <a:chOff x="0" y="0"/>
            <a:chExt cx="2561523" cy="242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1523" cy="242372"/>
            </a:xfrm>
            <a:custGeom>
              <a:avLst/>
              <a:gdLst/>
              <a:ahLst/>
              <a:cxnLst/>
              <a:rect r="r" b="b" t="t" l="l"/>
              <a:pathLst>
                <a:path h="242372" w="2561523">
                  <a:moveTo>
                    <a:pt x="0" y="0"/>
                  </a:moveTo>
                  <a:lnTo>
                    <a:pt x="2561523" y="0"/>
                  </a:lnTo>
                  <a:lnTo>
                    <a:pt x="2561523" y="242372"/>
                  </a:lnTo>
                  <a:lnTo>
                    <a:pt x="0" y="242372"/>
                  </a:lnTo>
                  <a:close/>
                </a:path>
              </a:pathLst>
            </a:custGeom>
            <a:solidFill>
              <a:srgbClr val="7F7D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1523" cy="28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06434" y="3645896"/>
            <a:ext cx="7634344" cy="83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TOOL</a:t>
            </a: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S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15863" y="4801768"/>
            <a:ext cx="5839635" cy="169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Package Bioconductor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GEOquery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limma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Biobase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5863" y="7030034"/>
            <a:ext cx="5839635" cy="169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fungsional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EnrichR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GO 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Biological Process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KEGG Pathway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06434" y="7030034"/>
            <a:ext cx="5839635" cy="169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Visualisasi data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ggplot2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ph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eatmap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ggrep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06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906434" y="1889689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C3C0BE"/>
                </a:solidFill>
                <a:latin typeface="Lumberjack"/>
                <a:ea typeface="Lumberjack"/>
                <a:cs typeface="Lumberjack"/>
                <a:sym typeface="Lumberjack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6434" y="4630101"/>
            <a:ext cx="11749064" cy="211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Desain eksperimen:</a:t>
            </a:r>
          </a:p>
          <a:p>
            <a:pPr algn="just" marL="1363567" indent="-454522" lvl="2">
              <a:lnSpc>
                <a:spcPts val="3315"/>
              </a:lnSpc>
              <a:buFont typeface="Arial"/>
              <a:buChar char="⚬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5 donor manusia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Setiap donor memiliki 2 kondisi:</a:t>
            </a:r>
          </a:p>
          <a:p>
            <a:pPr algn="just" marL="1363567" indent="-454522" lvl="2">
              <a:lnSpc>
                <a:spcPts val="3315"/>
              </a:lnSpc>
              <a:buFont typeface="Arial"/>
              <a:buChar char="⚬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Kontrol</a:t>
            </a:r>
          </a:p>
          <a:p>
            <a:pPr algn="just" marL="1363567" indent="-454522" lvl="2">
              <a:lnSpc>
                <a:spcPts val="3315"/>
              </a:lnSpc>
              <a:buFont typeface="Arial"/>
              <a:buChar char="⚬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Infeksi Influenza A (8 jam)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6936" y="3596774"/>
            <a:ext cx="9725784" cy="920257"/>
            <a:chOff x="0" y="0"/>
            <a:chExt cx="2561523" cy="242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1523" cy="242372"/>
            </a:xfrm>
            <a:custGeom>
              <a:avLst/>
              <a:gdLst/>
              <a:ahLst/>
              <a:cxnLst/>
              <a:rect r="r" b="b" t="t" l="l"/>
              <a:pathLst>
                <a:path h="242372" w="2561523">
                  <a:moveTo>
                    <a:pt x="0" y="0"/>
                  </a:moveTo>
                  <a:lnTo>
                    <a:pt x="2561523" y="0"/>
                  </a:lnTo>
                  <a:lnTo>
                    <a:pt x="2561523" y="242372"/>
                  </a:lnTo>
                  <a:lnTo>
                    <a:pt x="0" y="242372"/>
                  </a:lnTo>
                  <a:close/>
                </a:path>
              </a:pathLst>
            </a:custGeom>
            <a:solidFill>
              <a:srgbClr val="7F7D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1523" cy="28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06434" y="3682499"/>
            <a:ext cx="7634344" cy="83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MATERIALS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06434" y="6860728"/>
            <a:ext cx="11749064" cy="169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Dataset: GSE68849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Organisme: Homo sapiens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Platform: Illumina HumanHT-12 v4.0 microarray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Jenis sel: Primary plasmacytoid dendritic cells (pDC)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07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906434" y="1889689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C3C0BE"/>
                </a:solidFill>
                <a:latin typeface="Lumberjack"/>
                <a:ea typeface="Lumberjack"/>
                <a:cs typeface="Lumberjack"/>
                <a:sym typeface="Lumberjack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6434" y="4630101"/>
            <a:ext cx="11749064" cy="37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Dataset GEO (GSE68849)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        ↓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Preprocessing &amp; QC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        ↓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Differential Expression (limma)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        ↓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Visualisasi (PCA, Volcano, Heatmap)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        ↓</a:t>
            </a:r>
          </a:p>
          <a:p>
            <a:pPr algn="ctr">
              <a:lnSpc>
                <a:spcPts val="3315"/>
              </a:lnSpc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Functional Enrichment (GO &amp; KEGG)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6936" y="3596774"/>
            <a:ext cx="9725784" cy="920257"/>
            <a:chOff x="0" y="0"/>
            <a:chExt cx="2561523" cy="242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1523" cy="242372"/>
            </a:xfrm>
            <a:custGeom>
              <a:avLst/>
              <a:gdLst/>
              <a:ahLst/>
              <a:cxnLst/>
              <a:rect r="r" b="b" t="t" l="l"/>
              <a:pathLst>
                <a:path h="242372" w="2561523">
                  <a:moveTo>
                    <a:pt x="0" y="0"/>
                  </a:moveTo>
                  <a:lnTo>
                    <a:pt x="2561523" y="0"/>
                  </a:lnTo>
                  <a:lnTo>
                    <a:pt x="2561523" y="242372"/>
                  </a:lnTo>
                  <a:lnTo>
                    <a:pt x="0" y="242372"/>
                  </a:lnTo>
                  <a:close/>
                </a:path>
              </a:pathLst>
            </a:custGeom>
            <a:solidFill>
              <a:srgbClr val="7F7D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1523" cy="28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06434" y="3682499"/>
            <a:ext cx="7634344" cy="83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PROCES</a:t>
            </a:r>
            <a:r>
              <a:rPr lang="en-US" sz="6045">
                <a:solidFill>
                  <a:srgbClr val="F5F1EF"/>
                </a:solidFill>
                <a:latin typeface="Lumberjack"/>
                <a:ea typeface="Lumberjack"/>
                <a:cs typeface="Lumberjack"/>
                <a:sym typeface="Lumberjack"/>
              </a:rPr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992988" y="2924403"/>
            <a:ext cx="6907696" cy="4438194"/>
          </a:xfrm>
          <a:custGeom>
            <a:avLst/>
            <a:gdLst/>
            <a:ahLst/>
            <a:cxnLst/>
            <a:rect r="r" b="b" t="t" l="l"/>
            <a:pathLst>
              <a:path h="4438194" w="6907696">
                <a:moveTo>
                  <a:pt x="0" y="0"/>
                </a:moveTo>
                <a:lnTo>
                  <a:pt x="6907695" y="0"/>
                </a:lnTo>
                <a:lnTo>
                  <a:pt x="6907695" y="4438194"/>
                </a:lnTo>
                <a:lnTo>
                  <a:pt x="0" y="4438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48110" y="564546"/>
            <a:ext cx="5544878" cy="154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5"/>
              </a:lnSpc>
            </a:pPr>
            <a:r>
              <a:rPr lang="en-US" sz="112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BOX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8110" y="2511593"/>
            <a:ext cx="5102742" cy="672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Distribusi nilai log2 ekspresi gen antar sampel relatif seragam.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Median ekspresi pada setiap sampel berada pada kisaran yang hampir sama.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Tidak terlihat adanya outlier ekstrem atau sampel yang menyimpang jauh.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Hal ini menunjukkan bahwa kualitas data cukup baik dan konsisten antar sampel.</a:t>
            </a: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094869" y="3474138"/>
            <a:ext cx="6675940" cy="4329324"/>
          </a:xfrm>
          <a:custGeom>
            <a:avLst/>
            <a:gdLst/>
            <a:ahLst/>
            <a:cxnLst/>
            <a:rect r="r" b="b" t="t" l="l"/>
            <a:pathLst>
              <a:path h="4329324" w="6675940">
                <a:moveTo>
                  <a:pt x="0" y="0"/>
                </a:moveTo>
                <a:lnTo>
                  <a:pt x="6675940" y="0"/>
                </a:lnTo>
                <a:lnTo>
                  <a:pt x="6675940" y="4329324"/>
                </a:lnTo>
                <a:lnTo>
                  <a:pt x="0" y="4329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66" t="0" r="-46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5017" y="142875"/>
            <a:ext cx="4817738" cy="267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4"/>
              </a:lnSpc>
            </a:pPr>
            <a:r>
              <a:rPr lang="en-US" sz="9880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DENSITY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8110" y="2846633"/>
            <a:ext cx="5102742" cy="672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Kurva d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istribusi ekspresi gen kontrol dan Influenza hampir saling tumpang tindih.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Puncak distribusi berada pada rentang nilai ekspresi yang sama.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Hal ini menunjukkan bahwa data telah ter-normalisasi dengan baik.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Distribusi yang seragam menunjukkan bahwa data layak digunakan untuk analisis differential expression.</a:t>
            </a: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121788" y="2623306"/>
            <a:ext cx="7061840" cy="5040388"/>
          </a:xfrm>
          <a:custGeom>
            <a:avLst/>
            <a:gdLst/>
            <a:ahLst/>
            <a:cxnLst/>
            <a:rect r="r" b="b" t="t" l="l"/>
            <a:pathLst>
              <a:path h="5040388" w="7061840">
                <a:moveTo>
                  <a:pt x="0" y="0"/>
                </a:moveTo>
                <a:lnTo>
                  <a:pt x="7061840" y="0"/>
                </a:lnTo>
                <a:lnTo>
                  <a:pt x="7061840" y="5040388"/>
                </a:lnTo>
                <a:lnTo>
                  <a:pt x="0" y="5040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92629" y="1779385"/>
            <a:ext cx="7375603" cy="156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PCA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46185" y="3514784"/>
            <a:ext cx="6787489" cy="505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Sa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mpel kontrol dan Influenza menunjukkan pola pemisahan yang cukup jelas pada ruang PCA.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Hal ini menunjukkan adanya perbedaan profil ekspresi gen antara kedua kondisi.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Variasi utama pada data dapat dijelaskan oleh perbedaan kondisi biologis (kontrol vs infeksi virus).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Hasil ini mendukung adanya perubahan transkriptom signifikan setelah infeksi Influenza 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055113" y="1836026"/>
            <a:ext cx="6713476" cy="4791744"/>
          </a:xfrm>
          <a:custGeom>
            <a:avLst/>
            <a:gdLst/>
            <a:ahLst/>
            <a:cxnLst/>
            <a:rect r="r" b="b" t="t" l="l"/>
            <a:pathLst>
              <a:path h="4791744" w="6713476">
                <a:moveTo>
                  <a:pt x="0" y="0"/>
                </a:moveTo>
                <a:lnTo>
                  <a:pt x="6713477" y="0"/>
                </a:lnTo>
                <a:lnTo>
                  <a:pt x="6713477" y="4791744"/>
                </a:lnTo>
                <a:lnTo>
                  <a:pt x="0" y="47917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50093" y="451740"/>
            <a:ext cx="5544878" cy="30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VOLCANO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50093" y="3298557"/>
            <a:ext cx="6718306" cy="526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6"/>
              </a:lnSpc>
            </a:pPr>
          </a:p>
          <a:p>
            <a:pPr algn="just" marL="568924" indent="-284462" lvl="1">
              <a:lnSpc>
                <a:spcPts val="2766"/>
              </a:lnSpc>
              <a:buFont typeface="Arial"/>
              <a:buChar char="•"/>
            </a:pPr>
            <a:r>
              <a:rPr lang="en-US" sz="2635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Banyak g</a:t>
            </a:r>
            <a:r>
              <a:rPr lang="en-US" sz="2635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en menunjukkan perubahan ekspresi signifikan setelah infeksi Influenza A.</a:t>
            </a:r>
          </a:p>
          <a:p>
            <a:pPr algn="just" marL="568924" indent="-284462" lvl="1">
              <a:lnSpc>
                <a:spcPts val="2766"/>
              </a:lnSpc>
              <a:buFont typeface="Arial"/>
              <a:buChar char="•"/>
            </a:pPr>
            <a:r>
              <a:rPr lang="en-US" sz="2635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Titik merah menunjukkan gen yang up-regulated, sedangkan titik biru menunjukkan gen yang down-regulated.</a:t>
            </a:r>
          </a:p>
          <a:p>
            <a:pPr algn="just" marL="568924" indent="-284462" lvl="1">
              <a:lnSpc>
                <a:spcPts val="2766"/>
              </a:lnSpc>
              <a:buFont typeface="Arial"/>
              <a:buChar char="•"/>
            </a:pPr>
            <a:r>
              <a:rPr lang="en-US" sz="2635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Beberapa gen interferon seperti IFNA, IFNB, dan IFNW menunjukkan peningkatan ekspresi yang kuat.</a:t>
            </a:r>
          </a:p>
          <a:p>
            <a:pPr algn="just" marL="568924" indent="-284462" lvl="1">
              <a:lnSpc>
                <a:spcPts val="2766"/>
              </a:lnSpc>
              <a:buFont typeface="Arial"/>
              <a:buChar char="•"/>
            </a:pPr>
            <a:r>
              <a:rPr lang="en-US" sz="2635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Hal ini menunjukkan aktivasi respons imun antiviral, terutama jalur interferon type I.</a:t>
            </a:r>
          </a:p>
          <a:p>
            <a:pPr algn="just">
              <a:lnSpc>
                <a:spcPts val="2766"/>
              </a:lnSpc>
            </a:pPr>
          </a:p>
          <a:p>
            <a:pPr algn="just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798994" y="3092476"/>
            <a:ext cx="5917987" cy="4438491"/>
          </a:xfrm>
          <a:custGeom>
            <a:avLst/>
            <a:gdLst/>
            <a:ahLst/>
            <a:cxnLst/>
            <a:rect r="r" b="b" t="t" l="l"/>
            <a:pathLst>
              <a:path h="4438491" w="5917987">
                <a:moveTo>
                  <a:pt x="0" y="0"/>
                </a:moveTo>
                <a:lnTo>
                  <a:pt x="5917987" y="0"/>
                </a:lnTo>
                <a:lnTo>
                  <a:pt x="5917987" y="4438490"/>
                </a:lnTo>
                <a:lnTo>
                  <a:pt x="0" y="44384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48110" y="1353768"/>
            <a:ext cx="5826528" cy="156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8110" y="2541411"/>
            <a:ext cx="5826528" cy="714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eatmap menampilkan 50 gen dengan perubahan ekspresi paling signifikan.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Terlihat pola ekspresi gen yang jelas berbeda antara kelompok kontrol dan Influenza.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Banyak gen menunjukkan peningkatan ekspresi pada sampel yang terinfeksi virus.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Beberapa gen yang meningkat berkaitan dengan respons interferon dan respons imun antiviral.</a:t>
            </a:r>
          </a:p>
          <a:p>
            <a:pPr algn="just">
              <a:lnSpc>
                <a:spcPts val="3315"/>
              </a:lnSpc>
            </a:pP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121788" y="3062820"/>
            <a:ext cx="6542257" cy="4497802"/>
          </a:xfrm>
          <a:custGeom>
            <a:avLst/>
            <a:gdLst/>
            <a:ahLst/>
            <a:cxnLst/>
            <a:rect r="r" b="b" t="t" l="l"/>
            <a:pathLst>
              <a:path h="4497802" w="6542257">
                <a:moveTo>
                  <a:pt x="0" y="0"/>
                </a:moveTo>
                <a:lnTo>
                  <a:pt x="6542258" y="0"/>
                </a:lnTo>
                <a:lnTo>
                  <a:pt x="6542258" y="4497802"/>
                </a:lnTo>
                <a:lnTo>
                  <a:pt x="0" y="44978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2752" y="1190625"/>
            <a:ext cx="5544878" cy="156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GO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42752" y="2521117"/>
            <a:ext cx="6370226" cy="639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0"/>
              </a:lnSpc>
            </a:pPr>
          </a:p>
          <a:p>
            <a:pPr algn="just" marL="610889" indent="-305445" lvl="1">
              <a:lnSpc>
                <a:spcPts val="2970"/>
              </a:lnSpc>
              <a:buFont typeface="Arial"/>
              <a:buChar char="•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GO m</a:t>
            </a: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enunjukkan pengayaan pada proses biologis yang berkaitan dengan respons imun antiviral.</a:t>
            </a:r>
          </a:p>
          <a:p>
            <a:pPr algn="just" marL="610889" indent="-305445" lvl="1">
              <a:lnSpc>
                <a:spcPts val="2970"/>
              </a:lnSpc>
              <a:buFont typeface="Arial"/>
              <a:buChar char="•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Beberapa proses yang signifikan meliputi:</a:t>
            </a:r>
          </a:p>
          <a:p>
            <a:pPr algn="just" marL="1221778" indent="-407259" lvl="2">
              <a:lnSpc>
                <a:spcPts val="2970"/>
              </a:lnSpc>
              <a:buFont typeface="Arial"/>
              <a:buChar char="⚬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Cytokine-mediated signaling pathway</a:t>
            </a:r>
          </a:p>
          <a:p>
            <a:pPr algn="just" marL="1221778" indent="-407259" lvl="2">
              <a:lnSpc>
                <a:spcPts val="2970"/>
              </a:lnSpc>
              <a:buFont typeface="Arial"/>
              <a:buChar char="⚬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Defense response to virus</a:t>
            </a:r>
          </a:p>
          <a:p>
            <a:pPr algn="just" marL="1221778" indent="-407259" lvl="2">
              <a:lnSpc>
                <a:spcPts val="2970"/>
              </a:lnSpc>
              <a:buFont typeface="Arial"/>
              <a:buChar char="⚬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Interferon-mediated signaling pathway</a:t>
            </a:r>
          </a:p>
          <a:p>
            <a:pPr algn="just" marL="1221778" indent="-407259" lvl="2">
              <a:lnSpc>
                <a:spcPts val="2970"/>
              </a:lnSpc>
              <a:buFont typeface="Arial"/>
              <a:buChar char="⚬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Cellular response to virus</a:t>
            </a:r>
          </a:p>
          <a:p>
            <a:pPr algn="just" marL="610889" indent="-305445" lvl="1">
              <a:lnSpc>
                <a:spcPts val="2970"/>
              </a:lnSpc>
              <a:buFont typeface="Arial"/>
              <a:buChar char="•"/>
            </a:pPr>
            <a:r>
              <a:rPr lang="en-US" sz="2829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Hal ini menunjukkan bahwa infeksi Influenza A memicu aktivasi jalur interferon dan respons imun bawaanpada pDC.</a:t>
            </a:r>
          </a:p>
          <a:p>
            <a:pPr algn="just">
              <a:lnSpc>
                <a:spcPts val="297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121788" y="2483017"/>
            <a:ext cx="6869547" cy="4722814"/>
          </a:xfrm>
          <a:custGeom>
            <a:avLst/>
            <a:gdLst/>
            <a:ahLst/>
            <a:cxnLst/>
            <a:rect r="r" b="b" t="t" l="l"/>
            <a:pathLst>
              <a:path h="4722814" w="6869547">
                <a:moveTo>
                  <a:pt x="0" y="0"/>
                </a:moveTo>
                <a:lnTo>
                  <a:pt x="6869548" y="0"/>
                </a:lnTo>
                <a:lnTo>
                  <a:pt x="6869548" y="4722814"/>
                </a:lnTo>
                <a:lnTo>
                  <a:pt x="0" y="47228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6227" y="1779385"/>
            <a:ext cx="6706684" cy="156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KEGG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0380" y="3221443"/>
            <a:ext cx="7352667" cy="499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8"/>
              </a:lnSpc>
            </a:pPr>
          </a:p>
          <a:p>
            <a:pPr algn="just" marL="622644" indent="-311322" lvl="1">
              <a:lnSpc>
                <a:spcPts val="3028"/>
              </a:lnSpc>
              <a:buFont typeface="Arial"/>
              <a:buChar char="•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</a:t>
            </a: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is KEGG menunjukkan pengayaan pada beberapa jalur imun antiviral.</a:t>
            </a:r>
          </a:p>
          <a:p>
            <a:pPr algn="just" marL="622644" indent="-311322" lvl="1">
              <a:lnSpc>
                <a:spcPts val="3028"/>
              </a:lnSpc>
              <a:buFont typeface="Arial"/>
              <a:buChar char="•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Jalur yang signifikan meliputi:</a:t>
            </a:r>
          </a:p>
          <a:p>
            <a:pPr algn="just" marL="1245287" indent="-415096" lvl="2">
              <a:lnSpc>
                <a:spcPts val="3028"/>
              </a:lnSpc>
              <a:buFont typeface="Arial"/>
              <a:buChar char="⚬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Cytokine–cytokine receptor interaction</a:t>
            </a:r>
          </a:p>
          <a:p>
            <a:pPr algn="just" marL="1245287" indent="-415096" lvl="2">
              <a:lnSpc>
                <a:spcPts val="3028"/>
              </a:lnSpc>
              <a:buFont typeface="Arial"/>
              <a:buChar char="⚬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Toll-like receptor signaling pathway</a:t>
            </a:r>
          </a:p>
          <a:p>
            <a:pPr algn="just" marL="1245287" indent="-415096" lvl="2">
              <a:lnSpc>
                <a:spcPts val="3028"/>
              </a:lnSpc>
              <a:buFont typeface="Arial"/>
              <a:buChar char="⚬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JAK–STAT signaling pathway</a:t>
            </a:r>
          </a:p>
          <a:p>
            <a:pPr algn="just" marL="1245287" indent="-415096" lvl="2">
              <a:lnSpc>
                <a:spcPts val="3028"/>
              </a:lnSpc>
              <a:buFont typeface="Arial"/>
              <a:buChar char="⚬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RIG-I-like receptor signaling pathway</a:t>
            </a:r>
          </a:p>
          <a:p>
            <a:pPr algn="just" marL="1245287" indent="-415096" lvl="2">
              <a:lnSpc>
                <a:spcPts val="3028"/>
              </a:lnSpc>
              <a:buFont typeface="Arial"/>
              <a:buChar char="⚬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Influenza A pathway</a:t>
            </a:r>
          </a:p>
          <a:p>
            <a:pPr algn="just" marL="622644" indent="-311322" lvl="1">
              <a:lnSpc>
                <a:spcPts val="3028"/>
              </a:lnSpc>
              <a:buFont typeface="Arial"/>
              <a:buChar char="•"/>
            </a:pPr>
            <a:r>
              <a:rPr lang="en-US" sz="2883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Jalur-jalur ini berperan dalam deteksi virus, produksi interferon, dan aktivasi respons imun bawaan.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510236" y="2378276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10236" y="4325323"/>
            <a:ext cx="11145262" cy="505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Infeksi Influ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enza A menyebabkan perubahan signifikan pada profil ekspresi gen plasmacytoid dendritic cells (pDC).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Banyak gen yang mengalami peningkatan ekspresi berkaitan dengan respons interferon tipe I.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Visualisasi PCA, volcano plot, dan heatmap menunjukkan perbedaan ekspresi gen yang jelas antara kelompok kontrol dan Influenza.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GO dan KEGG menunjukkan aktivasi jalur respons antivirus, sinyal interferon, serta jalur deteksi virus seperti Toll-like receptor dan JAK-STAT.</a:t>
            </a:r>
          </a:p>
          <a:p>
            <a:pPr algn="just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52014" y="6980819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9578728" y="0"/>
                </a:moveTo>
                <a:lnTo>
                  <a:pt x="0" y="0"/>
                </a:lnTo>
                <a:lnTo>
                  <a:pt x="0" y="7262417"/>
                </a:lnTo>
                <a:lnTo>
                  <a:pt x="9578728" y="7262417"/>
                </a:lnTo>
                <a:lnTo>
                  <a:pt x="95787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8093" y="6627770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24233" y="-2228976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10236" y="2644942"/>
            <a:ext cx="11145262" cy="15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0"/>
              </a:lnSpc>
            </a:pPr>
            <a:r>
              <a:rPr lang="en-US" sz="11372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10236" y="3702091"/>
            <a:ext cx="11145262" cy="58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5"/>
              </a:lnSpc>
            </a:pP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lisis dataset GSE68849 menunjukkan bahwa infeksi Influenza A memicu perubahan signifikan pada ekspresi gen pDC manusia.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Sejumlah gen yang berkaitan dengan respons interferon tipe I mengalami peningkatan ekspresi.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Analisis pengayaan fungsi biologis menunjukkan keterlibatan jalur respons virus, interferon signaling, dan cytokine signaling.</a:t>
            </a:r>
          </a:p>
          <a:p>
            <a:pPr algn="just" marL="681784" indent="-340892" lvl="1">
              <a:lnSpc>
                <a:spcPts val="3315"/>
              </a:lnSpc>
              <a:buFont typeface="Arial"/>
              <a:buChar char="•"/>
            </a:pP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Temuan ini</a:t>
            </a:r>
            <a:r>
              <a:rPr lang="en-US" sz="3157">
                <a:solidFill>
                  <a:srgbClr val="7F7D78"/>
                </a:solidFill>
                <a:latin typeface="Zilla Slab Light"/>
                <a:ea typeface="Zilla Slab Light"/>
                <a:cs typeface="Zilla Slab Light"/>
                <a:sym typeface="Zilla Slab Light"/>
              </a:rPr>
              <a:t> mengkonfirmasi bahwa pDC berperan sebagai sensor utama virus dalam sistem imun bawaan dan berkontribusi dalam aktivasi respons antiviral terhadap infeksi Influenza A.</a:t>
            </a:r>
          </a:p>
          <a:p>
            <a:pPr algn="just">
              <a:lnSpc>
                <a:spcPts val="331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051696" y="-20574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51696" y="8680342"/>
            <a:ext cx="1207604" cy="100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7404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13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6114038" y="9239250"/>
            <a:ext cx="9937658" cy="0"/>
          </a:xfrm>
          <a:prstGeom prst="line">
            <a:avLst/>
          </a:prstGeom>
          <a:ln cap="flat" w="38100">
            <a:solidFill>
              <a:srgbClr val="7F7D7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7771" y="7275576"/>
            <a:ext cx="9578727" cy="7262417"/>
          </a:xfrm>
          <a:custGeom>
            <a:avLst/>
            <a:gdLst/>
            <a:ahLst/>
            <a:cxnLst/>
            <a:rect r="r" b="b" t="t" l="l"/>
            <a:pathLst>
              <a:path h="7262417" w="9578727">
                <a:moveTo>
                  <a:pt x="0" y="0"/>
                </a:moveTo>
                <a:lnTo>
                  <a:pt x="9578727" y="0"/>
                </a:lnTo>
                <a:lnTo>
                  <a:pt x="9578727" y="7262417"/>
                </a:lnTo>
                <a:lnTo>
                  <a:pt x="0" y="7262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14207" y="6589784"/>
            <a:ext cx="2605442" cy="2668516"/>
          </a:xfrm>
          <a:custGeom>
            <a:avLst/>
            <a:gdLst/>
            <a:ahLst/>
            <a:cxnLst/>
            <a:rect r="r" b="b" t="t" l="l"/>
            <a:pathLst>
              <a:path h="2668516" w="2605442">
                <a:moveTo>
                  <a:pt x="0" y="0"/>
                </a:moveTo>
                <a:lnTo>
                  <a:pt x="2605443" y="0"/>
                </a:lnTo>
                <a:lnTo>
                  <a:pt x="2605443" y="2668516"/>
                </a:lnTo>
                <a:lnTo>
                  <a:pt x="0" y="2668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50450" y="-919232"/>
            <a:ext cx="5772343" cy="5764381"/>
          </a:xfrm>
          <a:custGeom>
            <a:avLst/>
            <a:gdLst/>
            <a:ahLst/>
            <a:cxnLst/>
            <a:rect r="r" b="b" t="t" l="l"/>
            <a:pathLst>
              <a:path h="5764381" w="5772343">
                <a:moveTo>
                  <a:pt x="5772343" y="5764381"/>
                </a:moveTo>
                <a:lnTo>
                  <a:pt x="0" y="5764381"/>
                </a:lnTo>
                <a:lnTo>
                  <a:pt x="0" y="0"/>
                </a:lnTo>
                <a:lnTo>
                  <a:pt x="5772343" y="0"/>
                </a:lnTo>
                <a:lnTo>
                  <a:pt x="5772343" y="57643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49685" y="-149175"/>
            <a:ext cx="3009518" cy="2112134"/>
          </a:xfrm>
          <a:custGeom>
            <a:avLst/>
            <a:gdLst/>
            <a:ahLst/>
            <a:cxnLst/>
            <a:rect r="r" b="b" t="t" l="l"/>
            <a:pathLst>
              <a:path h="2112134" w="3009518">
                <a:moveTo>
                  <a:pt x="0" y="0"/>
                </a:moveTo>
                <a:lnTo>
                  <a:pt x="3009517" y="0"/>
                </a:lnTo>
                <a:lnTo>
                  <a:pt x="3009517" y="2112134"/>
                </a:lnTo>
                <a:lnTo>
                  <a:pt x="0" y="2112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50450" y="-425617"/>
            <a:ext cx="2287800" cy="2908634"/>
          </a:xfrm>
          <a:custGeom>
            <a:avLst/>
            <a:gdLst/>
            <a:ahLst/>
            <a:cxnLst/>
            <a:rect r="r" b="b" t="t" l="l"/>
            <a:pathLst>
              <a:path h="2908634" w="2287800">
                <a:moveTo>
                  <a:pt x="0" y="0"/>
                </a:moveTo>
                <a:lnTo>
                  <a:pt x="2287800" y="0"/>
                </a:lnTo>
                <a:lnTo>
                  <a:pt x="2287800" y="2908634"/>
                </a:lnTo>
                <a:lnTo>
                  <a:pt x="0" y="2908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07604" y="82296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77098" y="4325442"/>
            <a:ext cx="13133803" cy="183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1"/>
              </a:lnSpc>
            </a:pPr>
            <a:r>
              <a:rPr lang="en-US" sz="13401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TH</a:t>
            </a:r>
            <a:r>
              <a:rPr lang="en-US" sz="13401">
                <a:solidFill>
                  <a:srgbClr val="7F7D78"/>
                </a:solidFill>
                <a:latin typeface="Lumberjack"/>
                <a:ea typeface="Lumberjack"/>
                <a:cs typeface="Lumberjack"/>
                <a:sym typeface="Lumberjack"/>
              </a:rPr>
              <a:t>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751695" y="-2976632"/>
            <a:ext cx="3648974" cy="4114800"/>
          </a:xfrm>
          <a:custGeom>
            <a:avLst/>
            <a:gdLst/>
            <a:ahLst/>
            <a:cxnLst/>
            <a:rect r="r" b="b" t="t" l="l"/>
            <a:pathLst>
              <a:path h="4114800" w="3648974">
                <a:moveTo>
                  <a:pt x="0" y="0"/>
                </a:moveTo>
                <a:lnTo>
                  <a:pt x="3648974" y="0"/>
                </a:lnTo>
                <a:lnTo>
                  <a:pt x="3648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26788" y="9701821"/>
            <a:ext cx="5432512" cy="2966812"/>
          </a:xfrm>
          <a:custGeom>
            <a:avLst/>
            <a:gdLst/>
            <a:ahLst/>
            <a:cxnLst/>
            <a:rect r="r" b="b" t="t" l="l"/>
            <a:pathLst>
              <a:path h="2966812" w="5432512">
                <a:moveTo>
                  <a:pt x="0" y="0"/>
                </a:moveTo>
                <a:lnTo>
                  <a:pt x="5432512" y="0"/>
                </a:lnTo>
                <a:lnTo>
                  <a:pt x="5432512" y="2966812"/>
                </a:lnTo>
                <a:lnTo>
                  <a:pt x="0" y="2966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DAHDI1ULjn0</dc:identifier>
  <dcterms:modified xsi:type="dcterms:W3CDTF">2011-08-01T06:04:30Z</dcterms:modified>
  <cp:revision>1</cp:revision>
  <dc:title>Capstone project</dc:title>
</cp:coreProperties>
</file>